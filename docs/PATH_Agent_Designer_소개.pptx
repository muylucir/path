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0" y="1097280"/>
            <a:ext cx="3566160" cy="438912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0" y="112471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8BDF8"/>
                </a:solidFill>
                <a:latin typeface="맑은 고딕"/>
              </a:defRPr>
            </a:pPr>
            <a:r>
              <a:t>AI Agent Design &amp; Validation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P.A.T.H Agent Designer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맑은 고딕"/>
              </a:defRPr>
            </a:pPr>
            <a:r>
              <a:t>AI Agent 아이디어를 검증하고, 개발팀이 바로 착수할 수 있는</a:t>
            </a:r>
            <a:br/>
            <a:r>
              <a:t>구현 명세서를 자동 생성하는 도구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4206240"/>
            <a:ext cx="2286000" cy="18288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0" y="4206240"/>
            <a:ext cx="2286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389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  <a:latin typeface="맑은 고딕"/>
              </a:defRPr>
            </a:pPr>
            <a: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257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문제 구조화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39312" y="4892040"/>
            <a:ext cx="292608" cy="29260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23360" y="4206240"/>
            <a:ext cx="2286000" cy="18288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0" y="4206240"/>
            <a:ext cx="22860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4389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78BFA"/>
                </a:solidFill>
                <a:latin typeface="맑은 고딕"/>
              </a:defRPr>
            </a:pPr>
            <a: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Technical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5257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준비도 점검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82512" y="4892040"/>
            <a:ext cx="292608" cy="29260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0" y="4206240"/>
            <a:ext cx="2286000" cy="18288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66560" y="4206240"/>
            <a:ext cx="22860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389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ADE80"/>
                </a:solidFill>
                <a:latin typeface="맑은 고딕"/>
              </a:defRPr>
            </a:pPr>
            <a: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Agent Pattern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257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패턴 분석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125712" y="4892040"/>
            <a:ext cx="292608" cy="29260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09760" y="4206240"/>
            <a:ext cx="2286000" cy="18288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09760" y="4206240"/>
            <a:ext cx="228600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4389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923C"/>
                </a:solidFill>
                <a:latin typeface="맑은 고딕"/>
              </a:defRPr>
            </a:pPr>
            <a:r>
              <a:t>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Handoff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5257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명세서 생성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왜 P.A.T.H가 필요한가?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맑은 고딕"/>
              </a:defRPr>
            </a:pPr>
            <a:r>
              <a:t>"우리도 AI Agent 도입해보고 싶은데요."  —  여기까지는 좋습니다. 문제는 그 다음입니다.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383280" cy="384048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2A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맑은 고딕"/>
              </a:defRPr>
            </a:pPr>
            <a:r>
              <a:t>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막연한 요구사항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17520"/>
            <a:ext cx="2926080" cy="1051560"/>
          </a:xfrm>
          <a:prstGeom prst="round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8152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맑은 고딕"/>
              </a:defRPr>
            </a:pPr>
            <a:r>
              <a:t>"AI로 문서 분석하는 것</a:t>
            </a:r>
            <a:br/>
            <a:r>
              <a:t>만들어주세요"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519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기획팀과 개발팀이</a:t>
            </a:r>
            <a:br/>
            <a:r>
              <a:t>서로 다른 그림을 그립니다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737360"/>
            <a:ext cx="3383280" cy="384048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2A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8745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맑은 고딕"/>
              </a:defRPr>
            </a:pPr>
            <a:r>
              <a:t>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뒤늦은 문제 발견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017520"/>
            <a:ext cx="2926080" cy="1051560"/>
          </a:xfrm>
          <a:prstGeom prst="round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08152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맑은 고딕"/>
              </a:defRPr>
            </a:pPr>
            <a:r>
              <a:t>개발 2주차:</a:t>
            </a:r>
            <a:br/>
            <a:r>
              <a:t>"이 데이터는 접근이 안 됩니다"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2519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시작 전에 확인했어야 할</a:t>
            </a:r>
            <a:br/>
            <a:r>
              <a:t>문제를 나중에야 발견합니다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737360"/>
            <a:ext cx="3383280" cy="384048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2A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18745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맑은 고딕"/>
              </a:defRPr>
            </a:pPr>
            <a: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부실한 전달 문서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3017520"/>
            <a:ext cx="2926080" cy="1051560"/>
          </a:xfrm>
          <a:prstGeom prst="round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08152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맑은 고딕"/>
              </a:defRPr>
            </a:pPr>
            <a:r>
              <a:t>"AI가 자동으로 처리합니다"</a:t>
            </a:r>
            <a:br/>
            <a:r>
              <a:t>→ "구체적으로 어떻게?"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42519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개발팀/외주사에 전달할</a:t>
            </a:r>
            <a:br/>
            <a:r>
              <a:t>구체적 문서가 없습니다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852160"/>
            <a:ext cx="11064240" cy="64008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907024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맑은 고딕"/>
              </a:defRPr>
            </a:pPr>
            <a:r>
              <a:t>P.A.T.H는 이 간극을 메웁니다  —  만들기 전에 확인하고, 확인이 끝나면 구체적 문서를 만듭니다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P.A.T.H 프로세스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맑은 고딕"/>
              </a:defRPr>
            </a:pPr>
            <a:r>
              <a:t>아이디어 입력부터 구현 명세서까지  —  4단계 AI 가이드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423160" cy="41148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42316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맑은 고딕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문제 구조화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1874520" cy="18288"/>
          </a:xfrm>
          <a:prstGeom prst="rect">
            <a:avLst/>
          </a:prstGeom>
          <a:solidFill>
            <a:srgbClr val="2A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업무 트리거 정의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처리 프로세스 분해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결과물/사람 개입 확인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16936" y="3474720"/>
            <a:ext cx="2743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6120" y="1645920"/>
            <a:ext cx="2423160" cy="41148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645920"/>
            <a:ext cx="242316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8288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78BFA"/>
                </a:solidFill>
                <a:latin typeface="맑은 고딕"/>
              </a:defRPr>
            </a:pPr>
            <a: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103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Technical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5146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준비도 점검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2926080"/>
            <a:ext cx="1874520" cy="18288"/>
          </a:xfrm>
          <a:prstGeom prst="rect">
            <a:avLst/>
          </a:prstGeom>
          <a:solidFill>
            <a:srgbClr val="2A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10896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5개 항목 AI 자동 평가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자율성 요구도 평가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개선 계획 → 재평가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705856" y="3474720"/>
            <a:ext cx="2743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35040" y="1645920"/>
            <a:ext cx="2423160" cy="41148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1645920"/>
            <a:ext cx="2423160" cy="6400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18288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DE80"/>
                </a:solidFill>
                <a:latin typeface="맑은 고딕"/>
              </a:defRPr>
            </a:pPr>
            <a: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103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Agent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5146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패턴 분석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926080"/>
            <a:ext cx="1874520" cy="18288"/>
          </a:xfrm>
          <a:prstGeom prst="rect">
            <a:avLst/>
          </a:prstGeom>
          <a:solidFill>
            <a:srgbClr val="2A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10896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자동화 수준 결정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Agent 구조 추천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AI 대화로 확정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494776" y="3474720"/>
            <a:ext cx="2743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823960" y="1645920"/>
            <a:ext cx="2423160" cy="41148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23960" y="1645920"/>
            <a:ext cx="2423160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18288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923C"/>
                </a:solidFill>
                <a:latin typeface="맑은 고딕"/>
              </a:defRPr>
            </a:pPr>
            <a:r>
              <a:t>Step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2103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Handoff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25146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명세서 생성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2926080"/>
            <a:ext cx="1874520" cy="18288"/>
          </a:xfrm>
          <a:prstGeom prst="rect">
            <a:avLst/>
          </a:prstGeom>
          <a:solidFill>
            <a:srgbClr val="2A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310896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5개 전문 AI 협업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3개 병렬 실행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바로 전달 가능한 문서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035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BDF8"/>
                </a:solidFill>
                <a:latin typeface="맑은 고딕"/>
              </a:defRPr>
            </a:pPr>
            <a:r>
              <a:t>입력: 여러분의 AI Agent 아이디어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6035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B923C"/>
                </a:solidFill>
                <a:latin typeface="맑은 고딕"/>
              </a:defRPr>
            </a:pPr>
            <a:r>
              <a:t>출력: 개발 착수 가능한 구현 명세서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463040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931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D111E"/>
                </a:solidFill>
                <a:latin typeface="맑은 고딕"/>
              </a:defRPr>
            </a:pPr>
            <a: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3383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Problem — 문제 구조화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맑은 고딕"/>
              </a:defRPr>
            </a:pPr>
            <a:r>
              <a:t>막연한 요구사항을 기획팀과 개발팀이 같은 그림을 볼 수 있도록 정리합니다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514600" cy="347472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2A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5564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  <a:latin typeface="맑은 고딕"/>
              </a:defRPr>
            </a:pPr>
            <a:r>
              <a:t>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맑은 고딕"/>
              </a:defRPr>
            </a:pPr>
            <a:r>
              <a:t>업무 트리거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언제 시작되는</a:t>
            </a:r>
            <a:br/>
            <a:r>
              <a:t>작업인가요?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40"/>
            <a:ext cx="2148840" cy="1463040"/>
          </a:xfrm>
          <a:prstGeom prst="round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3756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고객 요청 시</a:t>
            </a:r>
            <a:br/>
            <a:r>
              <a:t>매일 오전 9시</a:t>
            </a:r>
            <a:br/>
            <a:r>
              <a:t>특정 조건 충족 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645920"/>
            <a:ext cx="2514600" cy="347472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2A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75564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  <a:latin typeface="맑은 고딕"/>
              </a:defRPr>
            </a:pPr>
            <a: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1945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맑은 고딕"/>
              </a:defRPr>
            </a:pPr>
            <a:r>
              <a:t>처리 프로세스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56032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어떤 처리가</a:t>
            </a:r>
            <a:br/>
            <a:r>
              <a:t>필요한가요?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291840"/>
            <a:ext cx="2148840" cy="1463040"/>
          </a:xfrm>
          <a:prstGeom prst="round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333756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데이터 수집</a:t>
            </a:r>
            <a:br/>
            <a:r>
              <a:t>분석·분류·판단</a:t>
            </a:r>
            <a:br/>
            <a:r>
              <a:t>문서 생성·실행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645920"/>
            <a:ext cx="2514600" cy="347472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2A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75564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  <a:latin typeface="맑은 고딕"/>
              </a:defRPr>
            </a:pPr>
            <a: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1945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맑은 고딕"/>
              </a:defRPr>
            </a:pPr>
            <a:r>
              <a:t>최종 결과물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56032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최종 결과물은</a:t>
            </a:r>
            <a:br/>
            <a:r>
              <a:t>무엇인가요?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291840"/>
            <a:ext cx="2148840" cy="1463040"/>
          </a:xfrm>
          <a:prstGeom prst="round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33756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의사결정·보고서</a:t>
            </a:r>
            <a:br/>
            <a:r>
              <a:t>알림·시스템 실행</a:t>
            </a:r>
            <a:br/>
            <a:r>
              <a:t>인사이트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1645920"/>
            <a:ext cx="2514600" cy="347472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2A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175564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  <a:latin typeface="맑은 고딕"/>
              </a:defRPr>
            </a:pPr>
            <a:r>
              <a:t>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21945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맑은 고딕"/>
              </a:defRPr>
            </a:pPr>
            <a:r>
              <a:t>사람 개입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256032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사람이 확인해야</a:t>
            </a:r>
            <a:br/>
            <a:r>
              <a:t>할 부분은?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3291840"/>
            <a:ext cx="2148840" cy="1463040"/>
          </a:xfrm>
          <a:prstGeom prst="round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333756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없음</a:t>
            </a:r>
            <a:br/>
            <a:r>
              <a:t>최종 검토</a:t>
            </a:r>
            <a:br/>
            <a:r>
              <a:t>예외 상황만·함께 협업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440680"/>
            <a:ext cx="11247120" cy="1097280"/>
          </a:xfrm>
          <a:prstGeom prst="round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5321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38BDF8"/>
                </a:solidFill>
                <a:latin typeface="맑은 고딕"/>
              </a:defRPr>
            </a:pPr>
            <a:r>
              <a:t>이 단계를 거치면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맑은 고딕"/>
              </a:defRPr>
            </a:pPr>
            <a:r>
              <a:t>막연했던 "이걸 자동화하고 싶어요"가 개발팀이 이해할 수 있는 구체적인 문제 정의로 바뀝니다.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+ 추가 입력: 허용 오류 수준, 참고 데이터 소스, 업무 맥락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463040" cy="38404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931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D111E"/>
                </a:solidFill>
                <a:latin typeface="맑은 고딕"/>
              </a:defRPr>
            </a:pPr>
            <a: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3383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Technical — 준비도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맑은 고딕"/>
              </a:defRPr>
            </a:pPr>
            <a:r>
              <a:t>AI가 5가지 핵심 항목 + 자율성 요구도를 점검하여 리스크를 사전에 파악합니다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1920240" cy="13716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19202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데이터</a:t>
            </a:r>
            <a:br/>
            <a:r>
              <a:t>접근성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8BDF8"/>
                </a:solidFill>
                <a:latin typeface="맑은 고딕"/>
              </a:defRPr>
            </a:pPr>
            <a:r>
              <a:t>/10점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1600200"/>
            <a:ext cx="1920240" cy="13716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87168" y="1600200"/>
            <a:ext cx="192024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17373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판단</a:t>
            </a:r>
            <a:br/>
            <a:r>
              <a:t>명확성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468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8BFA"/>
                </a:solidFill>
                <a:latin typeface="맑은 고딕"/>
              </a:defRPr>
            </a:pPr>
            <a:r>
              <a:t>/10점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08576" y="1600200"/>
            <a:ext cx="1920240" cy="13716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08576" y="1600200"/>
            <a:ext cx="192024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17373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오류</a:t>
            </a:r>
            <a:br/>
            <a:r>
              <a:t>허용도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468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DE80"/>
                </a:solidFill>
                <a:latin typeface="맑은 고딕"/>
              </a:defRPr>
            </a:pPr>
            <a:r>
              <a:t>/10점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9984" y="1600200"/>
            <a:ext cx="1920240" cy="13716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29984" y="1600200"/>
            <a:ext cx="1920240" cy="457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9984" y="17373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응답</a:t>
            </a:r>
            <a:br/>
            <a:r>
              <a:t>시간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4" y="2468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ACC15"/>
                </a:solidFill>
                <a:latin typeface="맑은 고딕"/>
              </a:defRPr>
            </a:pPr>
            <a:r>
              <a:t>/10점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51392" y="1600200"/>
            <a:ext cx="1920240" cy="13716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51392" y="1600200"/>
            <a:ext cx="192024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51392" y="17373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시스템</a:t>
            </a:r>
            <a:br/>
            <a:r>
              <a:t>연동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92" y="2468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B923C"/>
                </a:solidFill>
                <a:latin typeface="맑은 고딕"/>
              </a:defRPr>
            </a:pPr>
            <a:r>
              <a:t>/10점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200400"/>
            <a:ext cx="5303520" cy="329184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200400"/>
            <a:ext cx="530352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33756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700" b="1">
                <a:solidFill>
                  <a:srgbClr val="22D3EE"/>
                </a:solidFill>
                <a:latin typeface="맑은 고딕"/>
              </a:defRPr>
            </a:pPr>
            <a:r>
              <a:t>자율성 요구도  (별도 평가, 10점 만점)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"이 업무에 AI가 얼마나 자율적으로 판단해야 하는가?"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9-10점  완전 자율     예측 불가 상황에서 독립적 판단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 7-8점   높은 자율     상황에 따라 최적 경로 선택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 5-6점   보통            일부 판단 필요, 대부분 정해진 흐름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 3-4점   낮은 자율     거의 결정적, AI가 특정 단계만 보조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 0-2점   자율 불필요  완전히 결정적인 파이프라인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* 50점 만점 준비도 점수에 포함되지 않음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* Step 3에서 자동화 수준(AI-Assisted vs Agentic) 결정에 활용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3200400"/>
            <a:ext cx="5852160" cy="150876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32735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맑은 고딕"/>
              </a:defRPr>
            </a:pPr>
            <a:r>
              <a:t>종합 판정 (총 50점)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703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맑은 고딕"/>
              </a:defRPr>
            </a:pPr>
            <a:r>
              <a:t>40~50점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703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즉시 시작 가능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9502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맑은 고딕"/>
              </a:defRPr>
            </a:pPr>
            <a:r>
              <a:t>30~40점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9502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조건부 진행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1970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CC15"/>
                </a:solidFill>
                <a:latin typeface="맑은 고딕"/>
              </a:defRPr>
            </a:pPr>
            <a:r>
              <a:t>20~30점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19709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보완 후 재평가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44398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맑은 고딕"/>
              </a:defRPr>
            </a:pPr>
            <a:r>
              <a:t>20점 미만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44398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재검토 필요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4892040"/>
            <a:ext cx="5852160" cy="16002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493776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A78BFA"/>
                </a:solidFill>
                <a:latin typeface="맑은 고딕"/>
              </a:defRPr>
            </a:pPr>
            <a:r>
              <a:t>재평가 기능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맑은 고딕"/>
              </a:defRPr>
            </a:pPr>
            <a:r>
              <a:t>점수가 낮은 항목에 개선 계획을 입력하면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CBD5E1"/>
                </a:solidFill>
                <a:latin typeface="맑은 고딕"/>
              </a:defRPr>
            </a:pPr>
            <a:r>
              <a:t>계획이 반영된 점수를 다시 받을 수 있습니다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예) 데이터 접근성: 4점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    → 개선 계획: "ERP 시스템에 조회 API 개발 예정"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4ADE80"/>
                </a:solidFill>
                <a:latin typeface="맑은 고딕"/>
              </a:defRPr>
            </a:pPr>
            <a:r>
              <a:t>    → 재평가 결과: 7점으로 상향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463040" cy="38404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931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D111E"/>
                </a:solidFill>
                <a:latin typeface="맑은 고딕"/>
              </a:defRPr>
            </a:pPr>
            <a: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3383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Agent Pattern — 패턴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맑은 고딕"/>
              </a:defRPr>
            </a:pPr>
            <a:r>
              <a:t>준비도 결과와 자율성 요구도를 바탕으로 자동화 수준과 Agent 구조를 추천합니다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맑은 고딕"/>
              </a:defRPr>
            </a:pPr>
            <a:r>
              <a:t>자동화 수준 결정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303520" cy="18288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53035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38BDF8"/>
                </a:solidFill>
                <a:latin typeface="맑은 고딕"/>
              </a:defRPr>
            </a:pPr>
            <a:r>
              <a:t>AI-Assisted Workflow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자율성 점수 5점 이하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결정적 파이프라인 + 특정 단계에서 AI 보조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흐름이 정해져 있고, AI는 특정 작업(분류, 요약 등)만 담당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303520" cy="18288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65960"/>
            <a:ext cx="530352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F472B6"/>
                </a:solidFill>
                <a:latin typeface="맑은 고딕"/>
              </a:defRPr>
            </a:pPr>
            <a:r>
              <a:t>Agentic AI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자율성 점수 6점 이상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Agent가 자율적으로 도구를 선택하고 판단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상황에 따라 다른 경로를 선택하며, 반복·수정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맑은 고딕"/>
              </a:defRPr>
            </a:pPr>
            <a:r>
              <a:t>Agent 구조 추천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1783080" cy="105156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2A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4480560"/>
            <a:ext cx="1636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DE80"/>
                </a:solidFill>
                <a:latin typeface="맑은 고딕"/>
              </a:defRPr>
            </a:pPr>
            <a:r>
              <a:t>단계적 추론형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846320"/>
            <a:ext cx="1636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정보를 모아서 판단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86584" y="4389120"/>
            <a:ext cx="1783080" cy="105156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2A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59736" y="4480560"/>
            <a:ext cx="1636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DE80"/>
                </a:solidFill>
                <a:latin typeface="맑은 고딕"/>
              </a:defRPr>
            </a:pPr>
            <a:r>
              <a:t>자가 검토형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9736" y="4846320"/>
            <a:ext cx="1636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결과물 품질이 중요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4389120"/>
            <a:ext cx="1783080" cy="105156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2A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480560"/>
            <a:ext cx="1636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DE80"/>
                </a:solidFill>
                <a:latin typeface="맑은 고딕"/>
              </a:defRPr>
            </a:pPr>
            <a:r>
              <a:t>도구 활용형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846320"/>
            <a:ext cx="1636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외부 시스템 조회/실행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4389120"/>
            <a:ext cx="1783080" cy="105156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2A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8504" y="4480560"/>
            <a:ext cx="1636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DE80"/>
                </a:solidFill>
                <a:latin typeface="맑은 고딕"/>
              </a:defRPr>
            </a:pPr>
            <a:r>
              <a:t>계획 수립형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4846320"/>
            <a:ext cx="1636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여러 단계를 순서대로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4736" y="4389120"/>
            <a:ext cx="1783080" cy="105156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2A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4480560"/>
            <a:ext cx="1636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DE80"/>
                </a:solidFill>
                <a:latin typeface="맑은 고딕"/>
              </a:defRPr>
            </a:pPr>
            <a:r>
              <a:t>다중 Agent 협업형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4846320"/>
            <a:ext cx="1636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역할 분담 필요한 복잡 업무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20" y="4389120"/>
            <a:ext cx="1783080" cy="105156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2A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4480560"/>
            <a:ext cx="1636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DE80"/>
                </a:solidFill>
                <a:latin typeface="맑은 고딕"/>
              </a:defRPr>
            </a:pPr>
            <a:r>
              <a:t>사람 검토 포함형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77272" y="4846320"/>
            <a:ext cx="1636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최종 판단에 사람 필요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623560"/>
            <a:ext cx="11247120" cy="914400"/>
          </a:xfrm>
          <a:prstGeom prst="round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4ADE80"/>
                </a:solidFill>
                <a:latin typeface="맑은 고딕"/>
              </a:defRPr>
            </a:pPr>
            <a:r>
              <a:t>AI와 대화하며 결정을 다듬을 수 있습니다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"우리 업무는 실시간 처리가 중요한데, 이 방식이 맞나요?"   "AI-Assisted Workflow로도 충분하지 않을까요?"   "더 단순한 방식은 없나요?"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463040" cy="384048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931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D111E"/>
                </a:solidFill>
                <a:latin typeface="맑은 고딕"/>
              </a:defRPr>
            </a:pPr>
            <a: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3383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Handoff — 구현 명세서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맑은 고딕"/>
              </a:defRPr>
            </a:pPr>
            <a:r>
              <a:t>5개의 전문 AI가 협력하여 명세서를 작성합니다  (2~4단계 병렬 실행)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377440" cy="27432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37744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38BDF8"/>
                </a:solidFill>
                <a:latin typeface="맑은 고딕"/>
              </a:defRPr>
            </a:pPr>
            <a:r>
              <a:t>1단계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Agent 구조 설계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CBD5E1"/>
                </a:solidFill>
                <a:latin typeface="맑은 고딕"/>
              </a:defRPr>
            </a:pPr>
            <a:r>
              <a:t>역할 분담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CBD5E1"/>
                </a:solidFill>
                <a:latin typeface="맑은 고딕"/>
              </a:defRPr>
            </a:pPr>
            <a:r>
              <a:t>처리 흐름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CBD5E1"/>
                </a:solidFill>
                <a:latin typeface="맑은 고딕"/>
              </a:defRPr>
            </a:pPr>
            <a:r>
              <a:t>상태 관리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0 ~ 40%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26080" y="3291840"/>
            <a:ext cx="320040" cy="3200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645920"/>
            <a:ext cx="4937760" cy="3657600"/>
          </a:xfrm>
          <a:prstGeom prst="roundRect">
            <a:avLst/>
          </a:prstGeom>
          <a:solidFill>
            <a:srgbClr val="11172A"/>
          </a:solidFill>
          <a:ln w="15240">
            <a:solidFill>
              <a:srgbClr val="2A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691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CC15"/>
                </a:solidFill>
                <a:latin typeface="맑은 고딕"/>
              </a:defRPr>
            </a:pPr>
            <a:r>
              <a:t>병렬 실행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057400"/>
            <a:ext cx="4480560" cy="9144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2057400"/>
            <a:ext cx="54864" cy="914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1488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맑은 고딕"/>
              </a:defRPr>
            </a:pPr>
            <a:r>
              <a:t>2단계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아키텍처 다이어그램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시각적 처리 흐름도</a:t>
            </a:r>
            <a:br/>
            <a:r>
              <a:t>Mermaid 다이어그램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154680"/>
            <a:ext cx="4480560" cy="9144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11880" y="3154680"/>
            <a:ext cx="54864" cy="914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3246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맑은 고딕"/>
              </a:defRPr>
            </a:pPr>
            <a:r>
              <a:t>3단계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프롬프트 설계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520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Agent별</a:t>
            </a:r>
            <a:br/>
            <a:r>
              <a:t>프롬프트 엔지니어링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4251960"/>
            <a:ext cx="4480560" cy="9144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11880" y="4251960"/>
            <a:ext cx="54864" cy="914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43434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맑은 고딕"/>
              </a:defRPr>
            </a:pPr>
            <a:r>
              <a:t>4단계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297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도구 정의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617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도구 스키마</a:t>
            </a:r>
            <a:br/>
            <a:r>
              <a:t>입출력 스펙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074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40 ~ 95%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412480" y="3291840"/>
            <a:ext cx="320040" cy="3200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869680" y="2103120"/>
            <a:ext cx="2560320" cy="27432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69680" y="2103120"/>
            <a:ext cx="256032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22402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B923C"/>
                </a:solidFill>
                <a:latin typeface="맑은 고딕"/>
              </a:defRPr>
            </a:pPr>
            <a:r>
              <a:t>5단계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최종 문서 통합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CBD5E1"/>
                </a:solidFill>
                <a:latin typeface="맑은 고딕"/>
              </a:defRPr>
            </a:pPr>
            <a:r>
              <a:t>하나의 명세서로 조합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CBD5E1"/>
                </a:solidFill>
                <a:latin typeface="맑은 고딕"/>
              </a:defRPr>
            </a:pPr>
            <a:r>
              <a:t>바로 전달 가능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95 ~ 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03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맑은 고딕"/>
              </a:defRPr>
            </a:pPr>
            <a:r>
              <a:t>명세서에 포함되는 내용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669280"/>
            <a:ext cx="2743200" cy="384048"/>
          </a:xfrm>
          <a:prstGeom prst="round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57241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요약 + 자동화 수준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5669280"/>
            <a:ext cx="2743200" cy="384048"/>
          </a:xfrm>
          <a:prstGeom prst="round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47288" y="57241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Agent 설계 + 선택 이유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5669280"/>
            <a:ext cx="2743200" cy="384048"/>
          </a:xfrm>
          <a:prstGeom prst="round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57241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역할 정의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98280" y="5669280"/>
            <a:ext cx="2743200" cy="384048"/>
          </a:xfrm>
          <a:prstGeom prst="round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08008" y="57241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처리 흐름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126480"/>
            <a:ext cx="2743200" cy="384048"/>
          </a:xfrm>
          <a:prstGeom prst="round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61813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아키텍처 다이어그램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37560" y="6126480"/>
            <a:ext cx="2743200" cy="384048"/>
          </a:xfrm>
          <a:prstGeom prst="round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47288" y="61813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프롬프트 설계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6126480"/>
            <a:ext cx="2743200" cy="384048"/>
          </a:xfrm>
          <a:prstGeom prst="round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7648" y="61813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도구 정의 + 입출력 스펙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활용 시나리오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5440680" cy="246888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4406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맑은 고딕"/>
              </a:defRPr>
            </a:pPr>
            <a:r>
              <a:t>기획팀 ↔ 개발팀 킥오프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508760"/>
            <a:ext cx="2491740" cy="1737360"/>
          </a:xfrm>
          <a:prstGeom prst="round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536192"/>
            <a:ext cx="24917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7171"/>
                </a:solidFill>
                <a:latin typeface="맑은 고딕"/>
              </a:defRPr>
            </a:pPr>
            <a:r>
              <a:t>P.A.T.H 없이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800"/>
            <a:ext cx="23088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"자동 분류해주세요" (막연)</a:t>
            </a:r>
            <a:br/>
            <a:r>
              <a:t>→ 개발 2주차에 기준 없음 발견</a:t>
            </a:r>
            <a:br/>
            <a:r>
              <a:t>→ 재작업, 일정 지연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4388" y="1508760"/>
            <a:ext cx="2491740" cy="1737360"/>
          </a:xfrm>
          <a:prstGeom prst="round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4388" y="1536192"/>
            <a:ext cx="24917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DE80"/>
                </a:solidFill>
                <a:latin typeface="맑은 고딕"/>
              </a:defRPr>
            </a:pPr>
            <a:r>
              <a:t>P.A.T.H 활용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95828" y="1828800"/>
            <a:ext cx="23088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P.A.T.H로 문제 구조화</a:t>
            </a:r>
            <a:br/>
            <a:r>
              <a:t>→ 판단 명확성 5점 → 기준 정리 먼저</a:t>
            </a:r>
            <a:br/>
            <a:r>
              <a:t>→ 준비된 상태에서 개발 시작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005840"/>
            <a:ext cx="5440680" cy="246888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005840"/>
            <a:ext cx="544068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11556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맑은 고딕"/>
              </a:defRPr>
            </a:pPr>
            <a:r>
              <a:t>자동화 우선순위 결정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508760"/>
            <a:ext cx="2491740" cy="1737360"/>
          </a:xfrm>
          <a:prstGeom prst="round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36192"/>
            <a:ext cx="24917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7171"/>
                </a:solidFill>
                <a:latin typeface="맑은 고딕"/>
              </a:defRPr>
            </a:pPr>
            <a:r>
              <a:t>P.A.T.H 없이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828800"/>
            <a:ext cx="23088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"이게 효과가 클 것 같다" (감)</a:t>
            </a:r>
            <a:br/>
            <a:r>
              <a:t>→ 시작 후 데이터 접근 불가 발견</a:t>
            </a:r>
            <a:br/>
            <a:r>
              <a:t>→ 어려운 것부터 시작 → 좌초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5108" y="1508760"/>
            <a:ext cx="2491740" cy="1737360"/>
          </a:xfrm>
          <a:prstGeom prst="round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5108" y="1536192"/>
            <a:ext cx="24917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DE80"/>
                </a:solidFill>
                <a:latin typeface="맑은 고딕"/>
              </a:defRPr>
            </a:pPr>
            <a:r>
              <a:t>P.A.T.H 활용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6548" y="1828800"/>
            <a:ext cx="23088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준비도 42점 / 28점 / 38점 비교</a:t>
            </a:r>
            <a:br/>
            <a:r>
              <a:t>→ 28점짜리의 병목 사전 파악</a:t>
            </a:r>
            <a:br/>
            <a:r>
              <a:t>→ 실현 가능한 것부터 성과 축적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703320"/>
            <a:ext cx="5440680" cy="246888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703320"/>
            <a:ext cx="54406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81304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맑은 고딕"/>
              </a:defRPr>
            </a:pPr>
            <a:r>
              <a:t>경영진 PoC 제안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206240"/>
            <a:ext cx="2491740" cy="1737360"/>
          </a:xfrm>
          <a:prstGeom prst="round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4233672"/>
            <a:ext cx="24917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7171"/>
                </a:solidFill>
                <a:latin typeface="맑은 고딕"/>
              </a:defRPr>
            </a:pPr>
            <a:r>
              <a:t>P.A.T.H 없이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526280"/>
            <a:ext cx="23088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"AI가 자동으로 처리합니다"</a:t>
            </a:r>
            <a:br/>
            <a:r>
              <a:t>→ "구체적으로 어떻게?"</a:t>
            </a:r>
            <a:br/>
            <a:r>
              <a:t>→ 추가 질문 반복, 승인 지연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04388" y="4206240"/>
            <a:ext cx="2491740" cy="1737360"/>
          </a:xfrm>
          <a:prstGeom prst="round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4388" y="4233672"/>
            <a:ext cx="24917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DE80"/>
                </a:solidFill>
                <a:latin typeface="맑은 고딕"/>
              </a:defRPr>
            </a:pPr>
            <a:r>
              <a:t>P.A.T.H 활용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95828" y="4526280"/>
            <a:ext cx="23088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아키텍처 다이어그램 + 역할 정의</a:t>
            </a:r>
            <a:br/>
            <a:r>
              <a:t>→ "뭘 만들려는지 알고 있구나"</a:t>
            </a:r>
            <a:br/>
            <a:r>
              <a:t>→ 한 번에 승인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3703320"/>
            <a:ext cx="5440680" cy="246888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3703320"/>
            <a:ext cx="544068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381304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맑은 고딕"/>
              </a:defRPr>
            </a:pPr>
            <a:r>
              <a:t>외주 개발사 전달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8" y="4206240"/>
            <a:ext cx="2491740" cy="1737360"/>
          </a:xfrm>
          <a:prstGeom prst="round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8" y="4233672"/>
            <a:ext cx="24917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7171"/>
                </a:solidFill>
                <a:latin typeface="맑은 고딕"/>
              </a:defRPr>
            </a:pPr>
            <a:r>
              <a:t>P.A.T.H 없이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526280"/>
            <a:ext cx="23088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"AI로 문서 분석 만들어주세요"</a:t>
            </a:r>
            <a:br/>
            <a:r>
              <a:t>→ "이건 아닌데요" 반복</a:t>
            </a:r>
            <a:br/>
            <a:r>
              <a:t>→ 기대와 다른 결과물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5108" y="4206240"/>
            <a:ext cx="2491740" cy="1737360"/>
          </a:xfrm>
          <a:prstGeom prst="roundRect">
            <a:avLst/>
          </a:prstGeom>
          <a:solidFill>
            <a:srgbClr val="0D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5108" y="4233672"/>
            <a:ext cx="24917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DE80"/>
                </a:solidFill>
                <a:latin typeface="맑은 고딕"/>
              </a:defRPr>
            </a:pPr>
            <a:r>
              <a:t>P.A.T.H 활용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56548" y="4526280"/>
            <a:ext cx="23088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구현 명세서 전달 (구조/입출력/흐름)</a:t>
            </a:r>
            <a:br/>
            <a:r>
              <a:t>→ 명세서 기준으로 논의</a:t>
            </a:r>
            <a:br/>
            <a:r>
              <a:t>→ 요구사항에 부합하는 결과물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P.A.T.H 결과물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맑은 고딕"/>
              </a:defRPr>
            </a:pPr>
            <a:r>
              <a:t>각 단계에서 생성되는 결과물과 활용처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417320" cy="393192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14173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91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맑은 고딕"/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031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준비도 점수</a:t>
            </a:r>
            <a:br/>
            <a:r>
              <a:t>(50점 만점)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1051560" cy="137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9718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BDF8"/>
                </a:solidFill>
                <a:latin typeface="맑은 고딕"/>
              </a:defRPr>
            </a:pPr>
            <a:r>
              <a:t>대상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2004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프로젝트 매니저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749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BDF8"/>
                </a:solidFill>
                <a:latin typeface="맑은 고딕"/>
              </a:defRPr>
            </a:pPr>
            <a:r>
              <a:t>활용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97764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Go/No-Go</a:t>
            </a:r>
            <a:br/>
            <a:r>
              <a:t>판단 근거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74520" y="1554480"/>
            <a:ext cx="1417320" cy="393192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74520" y="1554480"/>
            <a:ext cx="14173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20" y="1691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맑은 고딕"/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1031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자율성 요구도</a:t>
            </a:r>
            <a:br/>
            <a:r>
              <a:t>(10점 만점)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2834640"/>
            <a:ext cx="105156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29718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2D3EE"/>
                </a:solidFill>
                <a:latin typeface="맑은 고딕"/>
              </a:defRPr>
            </a:pPr>
            <a:r>
              <a:t>대상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2004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기획팀 / 개발팀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749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2D3EE"/>
                </a:solidFill>
                <a:latin typeface="맑은 고딕"/>
              </a:defRPr>
            </a:pPr>
            <a:r>
              <a:t>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97764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AI 자동화 수준</a:t>
            </a:r>
            <a:br/>
            <a:r>
              <a:t>결정 근거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1554480"/>
            <a:ext cx="1417320" cy="393192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0" y="1554480"/>
            <a:ext cx="141732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1691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맑은 고딕"/>
              </a:defRPr>
            </a:pPr>
            <a:r>
              <a:t>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1031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항목별 진단 +</a:t>
            </a:r>
            <a:br/>
            <a:r>
              <a:t>개선 방향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2834640"/>
            <a:ext cx="1051560" cy="1371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29718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맑은 고딕"/>
              </a:defRPr>
            </a:pPr>
            <a:r>
              <a:t>대상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2004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기획팀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749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맑은 고딕"/>
              </a:defRPr>
            </a:pPr>
            <a:r>
              <a:t>활용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397764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사전 준비</a:t>
            </a:r>
            <a:br/>
            <a:r>
              <a:t>항목 도출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4920" y="1554480"/>
            <a:ext cx="1417320" cy="393192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74920" y="1554480"/>
            <a:ext cx="141732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1691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맑은 고딕"/>
              </a:defRPr>
            </a:pPr>
            <a:r>
              <a:t>⚠️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21031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리스크 목록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57800" y="2834640"/>
            <a:ext cx="1051560" cy="1371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0" y="29718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87171"/>
                </a:solidFill>
                <a:latin typeface="맑은 고딕"/>
              </a:defRPr>
            </a:pPr>
            <a:r>
              <a:t>대상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32004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프로젝트 전체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3749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87171"/>
                </a:solidFill>
                <a:latin typeface="맑은 고딕"/>
              </a:defRPr>
            </a:pPr>
            <a:r>
              <a:t>활용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397764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착수 전</a:t>
            </a:r>
            <a:br/>
            <a:r>
              <a:t>위험 요소 공유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0" y="1554480"/>
            <a:ext cx="1417320" cy="393192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75120" y="1554480"/>
            <a:ext cx="1417320" cy="457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1691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맑은 고딕"/>
              </a:defRPr>
            </a:pPr>
            <a:r>
              <a:t>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21031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자동화 수준</a:t>
            </a:r>
            <a:br/>
            <a:r>
              <a:t>추천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0" y="2834640"/>
            <a:ext cx="1051560" cy="1371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29718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472B6"/>
                </a:solidFill>
                <a:latin typeface="맑은 고딕"/>
              </a:defRPr>
            </a:pPr>
            <a:r>
              <a:t>대상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2004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개발팀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3749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472B6"/>
                </a:solidFill>
                <a:latin typeface="맑은 고딕"/>
              </a:defRPr>
            </a:pPr>
            <a:r>
              <a:t>활용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97764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AI-Assisted vs</a:t>
            </a:r>
            <a:br/>
            <a:r>
              <a:t>Agentic AI 결정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75320" y="1554480"/>
            <a:ext cx="1417320" cy="393192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75320" y="1554480"/>
            <a:ext cx="141732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5320" y="1691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맑은 고딕"/>
              </a:defRPr>
            </a:pPr>
            <a:r>
              <a:t>🏗️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21031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Agent 구조</a:t>
            </a:r>
            <a:br/>
            <a:r>
              <a:t>추천 + 근거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8200" y="2834640"/>
            <a:ext cx="1051560" cy="1371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0" y="29718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DE80"/>
                </a:solidFill>
                <a:latin typeface="맑은 고딕"/>
              </a:defRPr>
            </a:pPr>
            <a:r>
              <a:t>대상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2004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개발팀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3749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DE80"/>
                </a:solidFill>
                <a:latin typeface="맑은 고딕"/>
              </a:defRPr>
            </a:pPr>
            <a:r>
              <a:t>활용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397764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아키텍처 설계</a:t>
            </a:r>
            <a:br/>
            <a:r>
              <a:t>출발점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875520" y="1554480"/>
            <a:ext cx="1417320" cy="393192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875520" y="1554480"/>
            <a:ext cx="141732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75520" y="1691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맑은 고딕"/>
              </a:defRPr>
            </a:pPr>
            <a:r>
              <a:t>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21240" y="21031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구현 명세서</a:t>
            </a:r>
            <a:br/>
            <a:r>
              <a:t>(다이어그램 포함)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058400" y="2834640"/>
            <a:ext cx="1051560" cy="1371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21240" y="29718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B923C"/>
                </a:solidFill>
                <a:latin typeface="맑은 고딕"/>
              </a:defRPr>
            </a:pPr>
            <a:r>
              <a:t>대상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21240" y="32004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개발팀 / 외주사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21240" y="3749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B923C"/>
                </a:solidFill>
                <a:latin typeface="맑은 고딕"/>
              </a:defRPr>
            </a:pPr>
            <a:r>
              <a:t>활용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21240" y="397764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개발 착수, PoC,</a:t>
            </a:r>
            <a:br/>
            <a:r>
              <a:t>외주 요구사항 전달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486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P.A.T.H의 핵심 가치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1463040"/>
            <a:ext cx="3200400" cy="32004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463040"/>
            <a:ext cx="32004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48840" y="169164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48840" y="17190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111E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8BDF8"/>
                </a:solidFill>
                <a:latin typeface="맑은 고딕"/>
              </a:defRPr>
            </a:pPr>
            <a:r>
              <a:t>만들기 전에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만들 수 있는지 확인한다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개발 착수 후 발견할 문제를</a:t>
            </a:r>
            <a:br/>
            <a:r>
              <a:t>사전에 발견합니다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463040"/>
            <a:ext cx="3200400" cy="32004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463040"/>
            <a:ext cx="32004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06440" y="169164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17190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111E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78BFA"/>
                </a:solidFill>
                <a:latin typeface="맑은 고딕"/>
              </a:defRPr>
            </a:pPr>
            <a:r>
              <a:t>만들 수 있다면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어떻게, 어떤 수준으로 만들지 정리한다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3832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기획자와 개발팀이</a:t>
            </a:r>
            <a:br/>
            <a:r>
              <a:t>같은 언어로 대화합니다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463040"/>
            <a:ext cx="3200400" cy="32004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463040"/>
            <a:ext cx="32004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64040" y="1691640"/>
            <a:ext cx="640080" cy="6400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17190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111E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ADE80"/>
                </a:solidFill>
                <a:latin typeface="맑은 고딕"/>
              </a:defRPr>
            </a:pPr>
            <a:r>
              <a:t>정리가 끝나면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바로 시작할 수 있는 문서를 만든다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3832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아이디어에서 구현 계획까지의</a:t>
            </a:r>
            <a:br/>
            <a:r>
              <a:t>간극을 메웁니다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5029200"/>
            <a:ext cx="10149840" cy="137160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12064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P.A.T.H는 AI Agent를 대신 만들어주는 도구가 아닙니다.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만들기 전에 확인해야 할 것들을 빠짐없이 점검하고,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개발팀이 바로 움직일 수 있는 문서를 만들어주는 도구입니다.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"AI로 뭔가 해보고 싶다"에서 "이렇게 만들면 된다"까지. 그 사이의 간극을 P.A.T.H가 메웁니다.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