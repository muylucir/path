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858000" cy="13258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858000" cy="36576"/>
          </a:xfrm>
          <a:prstGeom prst="rect">
            <a:avLst/>
          </a:prstGeom>
          <a:solidFill>
            <a:srgbClr val="388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120640" y="182880"/>
            <a:ext cx="822960" cy="822960"/>
          </a:xfrm>
          <a:prstGeom prst="ellipse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486400" y="548640"/>
            <a:ext cx="457200" cy="457200"/>
          </a:xfrm>
          <a:prstGeom prst="ellipse">
            <a:avLst/>
          </a:prstGeom>
          <a:solidFill>
            <a:srgbClr val="2A1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320040"/>
            <a:ext cx="2011680" cy="256032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 w="12700">
            <a:solidFill>
              <a:srgbClr val="388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88BF7"/>
                </a:solidFill>
                <a:latin typeface="Arial"/>
              </a:defRPr>
            </a:pPr>
            <a:r>
              <a:t>  HANDS-ON WORKSHOP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7315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AI Agent,</a:t>
            </a:r>
          </a:p>
          <a:p>
            <a:pPr algn="l">
              <a:spcAft>
                <a:spcPts val="60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어디서부터 시작할까?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06B6D4"/>
                </a:solidFill>
                <a:latin typeface="Arial"/>
              </a:defRPr>
            </a:pPr>
            <a:r>
              <a:t>P.A.T.H로 아이디어 검증부터 코드 구현까지 한번에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6596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94A3B8"/>
                </a:solidFill>
                <a:latin typeface="Arial"/>
              </a:defRPr>
            </a:pPr>
            <a:r>
              <a:t>AI Agent를 도입하고 싶지만 어디서부터 시작해야 할지 모르겠다면,</a:t>
            </a:r>
          </a:p>
          <a:p>
            <a:pPr algn="l">
              <a:spcAft>
                <a:spcPts val="200"/>
              </a:spcAft>
              <a:defRPr sz="1000" b="1">
                <a:solidFill>
                  <a:srgbClr val="FFFFFF"/>
                </a:solidFill>
                <a:latin typeface="Arial"/>
              </a:defRPr>
            </a:pPr>
            <a:r>
              <a:t>이 워크샵에서 아이디어 검증 → 명세서 생성 → 코드 구현을 직접 경험하세요.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560320"/>
            <a:ext cx="603504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2834640"/>
            <a:ext cx="6035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88BF7"/>
                </a:solidFill>
                <a:latin typeface="Arial"/>
              </a:defRPr>
            </a:pPr>
            <a:r>
              <a:t>P.A.T.H Framework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035808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rial"/>
              </a:defRPr>
            </a:pPr>
            <a:r>
              <a:t>4단계로 완성하는 AI Agent 설계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447288"/>
            <a:ext cx="1298448" cy="1051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6384" y="3557016"/>
            <a:ext cx="411480" cy="411480"/>
          </a:xfrm>
          <a:prstGeom prst="ellipse">
            <a:avLst/>
          </a:prstGeom>
          <a:solidFill>
            <a:srgbClr val="388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041648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88BF7"/>
                </a:solidFill>
                <a:latin typeface="Arial"/>
              </a:defRPr>
            </a:pPr>
            <a:r>
              <a:t>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224528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Arial"/>
              </a:defRPr>
            </a:pPr>
            <a:r>
              <a:t>기본 정보 입력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19072" y="3721608"/>
            <a:ext cx="128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37944" y="3447288"/>
            <a:ext cx="1298448" cy="1051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212848" y="3557016"/>
            <a:ext cx="411480" cy="4114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37944" y="4041648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  <a:latin typeface="Arial"/>
              </a:defRPr>
            </a:pPr>
            <a:r>
              <a:t>Assessment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37944" y="4224528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Arial"/>
              </a:defRPr>
            </a:pPr>
            <a:r>
              <a:t>준비도 점검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45536" y="3721608"/>
            <a:ext cx="128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64408" y="3447288"/>
            <a:ext cx="1298448" cy="1051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639312" y="3557016"/>
            <a:ext cx="411480" cy="41148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64408" y="4041648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6B6D4"/>
                </a:solidFill>
                <a:latin typeface="Arial"/>
              </a:defRPr>
            </a:pPr>
            <a:r>
              <a:t>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64408" y="4224528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Arial"/>
              </a:defRPr>
            </a:pPr>
            <a:r>
              <a:t>패턴 분석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721608"/>
            <a:ext cx="12801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Arial"/>
              </a:defRPr>
            </a:pPr>
            <a: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90872" y="3447288"/>
            <a:ext cx="1298448" cy="1051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65776" y="3557016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0872" y="4041648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0B981"/>
                </a:solidFill>
                <a:latin typeface="Arial"/>
              </a:defRPr>
            </a:pPr>
            <a:r>
              <a:t>Handoff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0872" y="4224528"/>
            <a:ext cx="129844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Arial"/>
              </a:defRPr>
            </a:pPr>
            <a:r>
              <a:t>명세서 생성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727448"/>
            <a:ext cx="6035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CF6"/>
                </a:solidFill>
                <a:latin typeface="Arial"/>
              </a:defRPr>
            </a:pPr>
            <a:r>
              <a:t>Workshop 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4928616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rial"/>
              </a:defRPr>
            </a:pPr>
            <a:r>
              <a:t>검증에서 구현까지, 한 자리에서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" y="5385816"/>
            <a:ext cx="2788920" cy="822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88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48640" y="5495544"/>
            <a:ext cx="640080" cy="182880"/>
          </a:xfrm>
          <a:prstGeom prst="roundRect">
            <a:avLst>
              <a:gd name="adj" fmla="val 5000"/>
            </a:avLst>
          </a:prstGeom>
          <a:solidFill>
            <a:srgbClr val="388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Arial"/>
              </a:defRPr>
            </a:pPr>
            <a:r>
              <a:t>Step 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733288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PATH로 아이디어 검증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934456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388BF7"/>
                </a:solidFill>
                <a:latin typeface="Arial"/>
              </a:defRPr>
            </a:pPr>
            <a:r>
              <a:t>준비도 평가 + 패턴 분석 + 명세서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0" y="56144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94A3B8"/>
                </a:solidFill>
                <a:latin typeface="Arial"/>
              </a:defRPr>
            </a:pPr>
            <a:r>
              <a:t>&gt;&gt;&gt;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57600" y="5385816"/>
            <a:ext cx="2788920" cy="8229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794760" y="5495544"/>
            <a:ext cx="640080" cy="18288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00" b="1">
                <a:solidFill>
                  <a:srgbClr val="FFFFFF"/>
                </a:solidFill>
                <a:latin typeface="Arial"/>
              </a:defRPr>
            </a:pPr>
            <a:r>
              <a:t>Step B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94760" y="5733288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AI-DLC로 코드 구현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794760" y="5934456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10B981"/>
                </a:solidFill>
                <a:latin typeface="Arial"/>
              </a:defRPr>
            </a:pPr>
            <a:r>
              <a:t>동작 가능한 Agent 코드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6437376"/>
            <a:ext cx="6035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10B981"/>
                </a:solidFill>
                <a:latin typeface="Arial"/>
              </a:defRPr>
            </a:pPr>
            <a:r>
              <a:t>What You'll Get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6638544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rial"/>
              </a:defRPr>
            </a:pPr>
            <a:r>
              <a:t>워크샵에서 가져가는 것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1480" y="7050024"/>
            <a:ext cx="2962656" cy="65836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21208" y="7187184"/>
            <a:ext cx="274320" cy="274320"/>
          </a:xfrm>
          <a:prstGeom prst="roundRect">
            <a:avLst>
              <a:gd name="adj" fmla="val 5000"/>
            </a:avLst>
          </a:prstGeom>
          <a:solidFill>
            <a:srgbClr val="388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" y="7141464"/>
            <a:ext cx="2414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AI Agent 아이디어 검증 경험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" y="7370064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Arial"/>
              </a:defRPr>
            </a:pPr>
            <a:r>
              <a:t>아이디어를 구조화하고 실현 가능성 평가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483864" y="7050024"/>
            <a:ext cx="2962656" cy="65836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3593592" y="7187184"/>
            <a:ext cx="274320" cy="274320"/>
          </a:xfrm>
          <a:prstGeom prst="roundRect">
            <a:avLst>
              <a:gd name="adj" fmla="val 5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59352" y="7141464"/>
            <a:ext cx="2414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실제 동작하는 Agent 코드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59352" y="7370064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Arial"/>
              </a:defRPr>
            </a:pPr>
            <a:r>
              <a:t>명세서 기반 AI-DLC가 생성한 코드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11480" y="7799832"/>
            <a:ext cx="2962656" cy="65836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21208" y="7936992"/>
            <a:ext cx="274320" cy="274320"/>
          </a:xfrm>
          <a:prstGeom prst="roundRect">
            <a:avLst>
              <a:gd name="adj" fmla="val 5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968" y="7891272"/>
            <a:ext cx="2414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본인 업무용 설계서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6968" y="8119872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Arial"/>
              </a:defRPr>
            </a:pPr>
            <a:r>
              <a:t>자유 주제로 작성한 본인만의 명세서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483864" y="7799832"/>
            <a:ext cx="2962656" cy="65836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593592" y="7936992"/>
            <a:ext cx="274320" cy="274320"/>
          </a:xfrm>
          <a:prstGeom prst="roundRect">
            <a:avLst>
              <a:gd name="adj" fmla="val 5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59352" y="7891272"/>
            <a:ext cx="24140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재사용 가능한 프레임워크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59352" y="8119872"/>
            <a:ext cx="24140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Arial"/>
              </a:defRPr>
            </a:pPr>
            <a:r>
              <a:t>어떤 업무든 P.A.T.H로 분석하는 방법론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11480" y="8695944"/>
            <a:ext cx="6035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6B6D4"/>
                </a:solidFill>
                <a:latin typeface="Arial"/>
              </a:defRPr>
            </a:pPr>
            <a:r>
              <a:t>Who Should Attend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80" y="8897112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rial"/>
              </a:defRPr>
            </a:pPr>
            <a:r>
              <a:t>이런 분들을 위한 워크샵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02920" y="9299448"/>
            <a:ext cx="182880" cy="182880"/>
          </a:xfrm>
          <a:prstGeom prst="roundRect">
            <a:avLst>
              <a:gd name="adj" fmla="val 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v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95528" y="92811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AI Agent 도입을 원하지만 어디서부터 시작할지 모르는 분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02920" y="9592056"/>
            <a:ext cx="182880" cy="182880"/>
          </a:xfrm>
          <a:prstGeom prst="roundRect">
            <a:avLst>
              <a:gd name="adj" fmla="val 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v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5528" y="957376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PoC부터 시작해서 시간을 낭비한 경험이 있는 분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02920" y="9884664"/>
            <a:ext cx="182880" cy="182880"/>
          </a:xfrm>
          <a:prstGeom prst="roundRect">
            <a:avLst>
              <a:gd name="adj" fmla="val 5000"/>
            </a:avLst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t>v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95528" y="986637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Arial"/>
              </a:defRPr>
            </a:pPr>
            <a:r>
              <a:t>명세서부터 코드 구현까지 End-to-End 경험을 원하는 분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1480" y="10387584"/>
            <a:ext cx="6035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C4899"/>
                </a:solidFill>
                <a:latin typeface="Arial"/>
              </a:defRPr>
            </a:pPr>
            <a:r>
              <a:t>Timeline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1480" y="10588752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rial"/>
              </a:defRPr>
            </a:pPr>
            <a:r>
              <a:t>워크샵 일정 (5시간)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411480" y="11045952"/>
            <a:ext cx="6035040" cy="3054096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594360" y="11256264"/>
            <a:ext cx="91440" cy="91440"/>
          </a:xfrm>
          <a:prstGeom prst="ellipse">
            <a:avLst/>
          </a:prstGeom>
          <a:solidFill>
            <a:srgbClr val="388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30936" y="11347704"/>
            <a:ext cx="18288" cy="228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95528" y="1120140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388BF7"/>
                </a:solidFill>
                <a:latin typeface="Arial"/>
              </a:defRPr>
            </a:pPr>
            <a:r>
              <a:t>09:00 - 09:20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57400" y="1120140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오프닝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794760" y="112014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Arial"/>
              </a:defRPr>
            </a:pPr>
            <a:r>
              <a:t>PATH 소개 &amp; 워크샵 안내</a:t>
            </a:r>
          </a:p>
        </p:txBody>
      </p:sp>
      <p:sp>
        <p:nvSpPr>
          <p:cNvPr id="75" name="Oval 74"/>
          <p:cNvSpPr/>
          <p:nvPr/>
        </p:nvSpPr>
        <p:spPr>
          <a:xfrm>
            <a:off x="594360" y="11603736"/>
            <a:ext cx="91440" cy="914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30936" y="11695176"/>
            <a:ext cx="18288" cy="228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95528" y="1154887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CF6"/>
                </a:solidFill>
                <a:latin typeface="Arial"/>
              </a:defRPr>
            </a:pPr>
            <a:r>
              <a:t>09:20 - 10:10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057400" y="1154887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Guided 실습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794760" y="1154887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Arial"/>
              </a:defRPr>
            </a:pPr>
            <a:r>
              <a:t>사전 주제로 PATH Step 1~4</a:t>
            </a:r>
          </a:p>
        </p:txBody>
      </p:sp>
      <p:sp>
        <p:nvSpPr>
          <p:cNvPr id="80" name="Oval 79"/>
          <p:cNvSpPr/>
          <p:nvPr/>
        </p:nvSpPr>
        <p:spPr>
          <a:xfrm>
            <a:off x="594360" y="11951208"/>
            <a:ext cx="91440" cy="91440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30936" y="12042648"/>
            <a:ext cx="18288" cy="228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95528" y="11896344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Arial"/>
              </a:defRPr>
            </a:pPr>
            <a:r>
              <a:t>10:10 - 10:25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057400" y="11896344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휴식</a:t>
            </a:r>
          </a:p>
        </p:txBody>
      </p:sp>
      <p:sp>
        <p:nvSpPr>
          <p:cNvPr id="84" name="Oval 83"/>
          <p:cNvSpPr/>
          <p:nvPr/>
        </p:nvSpPr>
        <p:spPr>
          <a:xfrm>
            <a:off x="594360" y="12298680"/>
            <a:ext cx="91440" cy="914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30936" y="12390120"/>
            <a:ext cx="18288" cy="228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95528" y="12243816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8B5CF6"/>
                </a:solidFill>
                <a:latin typeface="Arial"/>
              </a:defRPr>
            </a:pPr>
            <a:r>
              <a:t>10:25 - 11:30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057400" y="12243816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Guided 실습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794760" y="12243816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Arial"/>
              </a:defRPr>
            </a:pPr>
            <a:r>
              <a:t>AI-DLC 코드 구현</a:t>
            </a:r>
          </a:p>
        </p:txBody>
      </p:sp>
      <p:sp>
        <p:nvSpPr>
          <p:cNvPr id="89" name="Oval 88"/>
          <p:cNvSpPr/>
          <p:nvPr/>
        </p:nvSpPr>
        <p:spPr>
          <a:xfrm>
            <a:off x="594360" y="12646152"/>
            <a:ext cx="91440" cy="914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30936" y="12737592"/>
            <a:ext cx="18288" cy="228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95528" y="12591288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59E0B"/>
                </a:solidFill>
                <a:latin typeface="Arial"/>
              </a:defRPr>
            </a:pPr>
            <a:r>
              <a:t>11:30 - 11:50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057400" y="1259128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자유 주제 준비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794760" y="12591288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Arial"/>
              </a:defRPr>
            </a:pPr>
            <a:r>
              <a:t>브레인스토밍 + 설계</a:t>
            </a:r>
          </a:p>
        </p:txBody>
      </p:sp>
      <p:sp>
        <p:nvSpPr>
          <p:cNvPr id="94" name="Oval 93"/>
          <p:cNvSpPr/>
          <p:nvPr/>
        </p:nvSpPr>
        <p:spPr>
          <a:xfrm>
            <a:off x="594360" y="12993624"/>
            <a:ext cx="91440" cy="91440"/>
          </a:xfrm>
          <a:prstGeom prst="ellipse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30936" y="13085064"/>
            <a:ext cx="18288" cy="228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95528" y="12938760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Arial"/>
              </a:defRPr>
            </a:pPr>
            <a:r>
              <a:t>11:50 - 12:50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057400" y="1293876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Arial"/>
              </a:defRPr>
            </a:pPr>
            <a:r>
              <a:t>점심</a:t>
            </a:r>
          </a:p>
        </p:txBody>
      </p:sp>
      <p:sp>
        <p:nvSpPr>
          <p:cNvPr id="98" name="Oval 97"/>
          <p:cNvSpPr/>
          <p:nvPr/>
        </p:nvSpPr>
        <p:spPr>
          <a:xfrm>
            <a:off x="594360" y="13341096"/>
            <a:ext cx="91440" cy="9144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30936" y="13432536"/>
            <a:ext cx="18288" cy="228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95528" y="13286232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6B6D4"/>
                </a:solidFill>
                <a:latin typeface="Arial"/>
              </a:defRPr>
            </a:pPr>
            <a:r>
              <a:t>12:50 - 14:20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057400" y="1328623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자유 실습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794760" y="13286232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Arial"/>
              </a:defRPr>
            </a:pPr>
            <a:r>
              <a:t>본인 주제 PATH + 코드 구현</a:t>
            </a:r>
          </a:p>
        </p:txBody>
      </p:sp>
      <p:sp>
        <p:nvSpPr>
          <p:cNvPr id="103" name="Oval 102"/>
          <p:cNvSpPr/>
          <p:nvPr/>
        </p:nvSpPr>
        <p:spPr>
          <a:xfrm>
            <a:off x="594360" y="13688568"/>
            <a:ext cx="91440" cy="9144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95528" y="13633704"/>
            <a:ext cx="1188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C4899"/>
                </a:solidFill>
                <a:latin typeface="Arial"/>
              </a:defRPr>
            </a:pPr>
            <a:r>
              <a:t>14:20 - 15:00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057400" y="13633704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Arial"/>
              </a:defRPr>
            </a:pPr>
            <a:r>
              <a:t>결과 공유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794760" y="13633704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4A3B8"/>
                </a:solidFill>
                <a:latin typeface="Arial"/>
              </a:defRPr>
            </a:pPr>
            <a:r>
              <a:t>성과 발표 &amp; 피드백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411480" y="14374368"/>
            <a:ext cx="6035040" cy="14173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 w="12700">
            <a:solidFill>
              <a:srgbClr val="388B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40080" y="145389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8BF7"/>
                </a:solidFill>
                <a:latin typeface="Arial"/>
              </a:defRPr>
            </a:pPr>
            <a:r>
              <a:t>일시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234440" y="14538960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rial"/>
              </a:defRPr>
            </a:pPr>
            <a:r>
              <a:t>2026년 O월 O일 (O) 09:00 - 15:00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40080" y="147675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8BF7"/>
                </a:solidFill>
                <a:latin typeface="Arial"/>
              </a:defRPr>
            </a:pPr>
            <a:r>
              <a:t>장소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234440" y="14767560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rial"/>
              </a:defRPr>
            </a:pPr>
            <a:r>
              <a:t>OOO (오프라인 / 온라인 병행)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40080" y="149961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8BF7"/>
                </a:solidFill>
                <a:latin typeface="Arial"/>
              </a:defRPr>
            </a:pPr>
            <a:r>
              <a:t>대상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234440" y="14996160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rial"/>
              </a:defRPr>
            </a:pPr>
            <a:r>
              <a:t>AI Agent 도입을 검토 중인 기업 담당자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40080" y="152247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8BF7"/>
                </a:solidFill>
                <a:latin typeface="Arial"/>
              </a:defRPr>
            </a:pPr>
            <a:r>
              <a:t>인원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234440" y="15224760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rial"/>
              </a:defRPr>
            </a:pPr>
            <a:r>
              <a:t>최대 20명 (선착순)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40080" y="1545336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388BF7"/>
                </a:solidFill>
                <a:latin typeface="Arial"/>
              </a:defRPr>
            </a:pPr>
            <a:r>
              <a:t>준비물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234440" y="15453360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rial"/>
              </a:defRPr>
            </a:pPr>
            <a:r>
              <a:t>노트북 (AWS 계정 사전 안내)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965960" y="15928848"/>
            <a:ext cx="2926080" cy="438912"/>
          </a:xfrm>
          <a:prstGeom prst="roundRect">
            <a:avLst>
              <a:gd name="adj" fmla="val 5000"/>
            </a:avLst>
          </a:prstGeom>
          <a:solidFill>
            <a:srgbClr val="388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지금 신청하기 &gt;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11480" y="16477488"/>
            <a:ext cx="6035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94A3B8"/>
                </a:solidFill>
                <a:latin typeface="Arial"/>
              </a:defRPr>
            </a:pPr>
            <a:r>
              <a:t>문의: workshop@example.com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0" y="16751808"/>
            <a:ext cx="685800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11480" y="16843248"/>
            <a:ext cx="603504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334155"/>
                </a:solidFill>
                <a:latin typeface="Arial"/>
              </a:defRPr>
            </a:pPr>
            <a:r>
              <a:t>P.A.T.H Agent Designer Workshop  |  Powered by AWS Bedrock + Strands Agents SDK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