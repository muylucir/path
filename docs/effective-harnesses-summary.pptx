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45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Harnesses for Long-Running Agents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77240" y="43891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Engineering  |  AI Agent Continuity &amp; Quality Patterns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6868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" y="868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11480" y="1143000"/>
            <a:ext cx="2743200" cy="868680"/>
          </a:xfrm>
          <a:prstGeom prst="rect">
            <a:avLst>
              <a:gd name="adj" fmla="val 5263"/>
            </a:avLst>
          </a:prstGeom>
          <a:solidFill>
            <a:srgbClr val="1A2332"/>
          </a:solidFill>
          <a:ln/>
        </p:spPr>
      </p:sp>
      <p:sp>
        <p:nvSpPr>
          <p:cNvPr id="10" name="Shape 6"/>
          <p:cNvSpPr/>
          <p:nvPr/>
        </p:nvSpPr>
        <p:spPr>
          <a:xfrm>
            <a:off x="411480" y="1143000"/>
            <a:ext cx="54864" cy="8686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7"/>
          <p:cNvSpPr/>
          <p:nvPr/>
        </p:nvSpPr>
        <p:spPr>
          <a:xfrm>
            <a:off x="566928" y="11887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0F4F8"/>
                </a:solidFill>
              </a:rPr>
              <a:t>Context window 전환 시 에이전트의 기억 소실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B8C5D6"/>
                </a:solidFill>
              </a:rPr>
              <a:t>- 상태 복구에 시간 낭비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B8C5D6"/>
                </a:solidFill>
              </a:rPr>
              <a:t>- 미완성 작업 방치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B8C5D6"/>
                </a:solidFill>
              </a:rPr>
              <a:t>- 프로젝트 조기 완료 선언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7627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368" y="21762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2-STAGE SOLUTION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11480" y="2468880"/>
            <a:ext cx="2743200" cy="960120"/>
          </a:xfrm>
          <a:prstGeom prst="rect">
            <a:avLst>
              <a:gd name="adj" fmla="val 4762"/>
            </a:avLst>
          </a:prstGeom>
          <a:solidFill>
            <a:srgbClr val="1A2332"/>
          </a:solidFill>
          <a:ln/>
        </p:spPr>
      </p:sp>
      <p:sp>
        <p:nvSpPr>
          <p:cNvPr id="15" name="Shape 10"/>
          <p:cNvSpPr/>
          <p:nvPr/>
        </p:nvSpPr>
        <p:spPr>
          <a:xfrm>
            <a:off x="411480" y="2468880"/>
            <a:ext cx="54864" cy="9601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Text 11"/>
          <p:cNvSpPr/>
          <p:nvPr/>
        </p:nvSpPr>
        <p:spPr>
          <a:xfrm>
            <a:off x="566928" y="248716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</a:rPr>
              <a:t>1  Initializer Agent 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7A8BA0"/>
                </a:solidFill>
              </a:rPr>
              <a:t>   (첫 세션 — 기반 구축)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B8C5D6"/>
                </a:solidFill>
              </a:rPr>
              <a:t>  init.sh  |  claude-progress.txt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B8C5D6"/>
                </a:solidFill>
              </a:rPr>
              <a:t>  Feature List (JSON)  |  초기 Git Commit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3520440"/>
            <a:ext cx="2743200" cy="960120"/>
          </a:xfrm>
          <a:prstGeom prst="rect">
            <a:avLst>
              <a:gd name="adj" fmla="val 4762"/>
            </a:avLst>
          </a:prstGeom>
          <a:solidFill>
            <a:srgbClr val="1A2332"/>
          </a:solidFill>
          <a:ln/>
        </p:spPr>
      </p:sp>
      <p:sp>
        <p:nvSpPr>
          <p:cNvPr id="18" name="Shape 13"/>
          <p:cNvSpPr/>
          <p:nvPr/>
        </p:nvSpPr>
        <p:spPr>
          <a:xfrm>
            <a:off x="411480" y="3520440"/>
            <a:ext cx="54864" cy="960120"/>
          </a:xfrm>
          <a:prstGeom prst="rect">
            <a:avLst/>
          </a:prstGeom>
          <a:solidFill>
            <a:srgbClr val="4A9FE5"/>
          </a:solidFill>
          <a:ln/>
        </p:spPr>
      </p:sp>
      <p:sp>
        <p:nvSpPr>
          <p:cNvPr id="19" name="Text 14"/>
          <p:cNvSpPr/>
          <p:nvPr/>
        </p:nvSpPr>
        <p:spPr>
          <a:xfrm>
            <a:off x="566928" y="353872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A9FE5"/>
                </a:solidFill>
              </a:rPr>
              <a:t>2  Coding Agent 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7A8BA0"/>
                </a:solidFill>
              </a:rPr>
              <a:t>   (반복 세션 — 점진적 구현)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B8C5D6"/>
                </a:solidFill>
              </a:rPr>
              <a:t>  Progress 읽기 → 미완성 기능 선택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B8C5D6"/>
                </a:solidFill>
              </a:rPr>
              <a:t>  → 구현 → E2E 테스트 → Git Commit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868680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584448" y="8686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MODES &amp; SOLUTIONS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37560" y="1170432"/>
          <a:ext cx="2926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4A9F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 Mode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8C5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프로젝트 조기 완료 선언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구조화된 Feature List (JSON)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8C5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버그 코드 + 문서 없음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commit + progress 파일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8C5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테스트 없이 완료 표시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 브라우저 자동화 테스트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8C5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환경 셋업 시간 낭비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사전 작성 init.sh 스크립트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8"/>
                    </a:solidFill>
                  </a:tcPr>
                </a:tc>
              </a:tr>
            </a:tbl>
          </a:graphicData>
        </a:graphic>
      </p:graphicFrame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487168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584448" y="24871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STARTUP ROUTINE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3337560" y="2761488"/>
            <a:ext cx="2926080" cy="1719072"/>
          </a:xfrm>
          <a:prstGeom prst="rect">
            <a:avLst>
              <a:gd name="adj" fmla="val 2660"/>
            </a:avLst>
          </a:prstGeom>
          <a:solidFill>
            <a:srgbClr val="1A2332"/>
          </a:solidFill>
          <a:ln/>
        </p:spPr>
      </p:sp>
      <p:sp>
        <p:nvSpPr>
          <p:cNvPr id="26" name="Shape 18"/>
          <p:cNvSpPr/>
          <p:nvPr/>
        </p:nvSpPr>
        <p:spPr>
          <a:xfrm>
            <a:off x="3493008" y="2834640"/>
            <a:ext cx="201168" cy="201168"/>
          </a:xfrm>
          <a:prstGeom prst="ellipse">
            <a:avLst/>
          </a:prstGeom>
          <a:solidFill>
            <a:srgbClr val="4A9FE5"/>
          </a:solidFill>
          <a:ln/>
        </p:spPr>
      </p:sp>
      <p:sp>
        <p:nvSpPr>
          <p:cNvPr id="27" name="Text 19"/>
          <p:cNvSpPr/>
          <p:nvPr/>
        </p:nvSpPr>
        <p:spPr>
          <a:xfrm>
            <a:off x="3493008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28" name="Text 20"/>
          <p:cNvSpPr/>
          <p:nvPr/>
        </p:nvSpPr>
        <p:spPr>
          <a:xfrm>
            <a:off x="3767328" y="28346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pwd 로 작업 디렉토리 확인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3493008" y="3145536"/>
            <a:ext cx="201168" cy="201168"/>
          </a:xfrm>
          <a:prstGeom prst="ellipse">
            <a:avLst/>
          </a:prstGeom>
          <a:solidFill>
            <a:srgbClr val="4A9FE5"/>
          </a:solidFill>
          <a:ln/>
        </p:spPr>
      </p:sp>
      <p:sp>
        <p:nvSpPr>
          <p:cNvPr id="30" name="Text 22"/>
          <p:cNvSpPr/>
          <p:nvPr/>
        </p:nvSpPr>
        <p:spPr>
          <a:xfrm>
            <a:off x="3493008" y="31455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31" name="Text 23"/>
          <p:cNvSpPr/>
          <p:nvPr/>
        </p:nvSpPr>
        <p:spPr>
          <a:xfrm>
            <a:off x="3767328" y="31455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log + progress 파일 읽기</a:t>
            </a:r>
            <a:endParaRPr lang="en-US" sz="800" dirty="0"/>
          </a:p>
        </p:txBody>
      </p:sp>
      <p:sp>
        <p:nvSpPr>
          <p:cNvPr id="32" name="Shape 24"/>
          <p:cNvSpPr/>
          <p:nvPr/>
        </p:nvSpPr>
        <p:spPr>
          <a:xfrm>
            <a:off x="3493008" y="3456432"/>
            <a:ext cx="201168" cy="201168"/>
          </a:xfrm>
          <a:prstGeom prst="ellipse">
            <a:avLst/>
          </a:prstGeom>
          <a:solidFill>
            <a:srgbClr val="4A9FE5"/>
          </a:solidFill>
          <a:ln/>
        </p:spPr>
      </p:sp>
      <p:sp>
        <p:nvSpPr>
          <p:cNvPr id="33" name="Text 25"/>
          <p:cNvSpPr/>
          <p:nvPr/>
        </p:nvSpPr>
        <p:spPr>
          <a:xfrm>
            <a:off x="3493008" y="3456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34" name="Text 26"/>
          <p:cNvSpPr/>
          <p:nvPr/>
        </p:nvSpPr>
        <p:spPr>
          <a:xfrm>
            <a:off x="3767328" y="34564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 높은 미완성 기능 선택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3493008" y="3767328"/>
            <a:ext cx="201168" cy="201168"/>
          </a:xfrm>
          <a:prstGeom prst="ellipse">
            <a:avLst/>
          </a:prstGeom>
          <a:solidFill>
            <a:srgbClr val="4A9FE5"/>
          </a:solidFill>
          <a:ln/>
        </p:spPr>
      </p:sp>
      <p:sp>
        <p:nvSpPr>
          <p:cNvPr id="36" name="Text 28"/>
          <p:cNvSpPr/>
          <p:nvPr/>
        </p:nvSpPr>
        <p:spPr>
          <a:xfrm>
            <a:off x="3493008" y="3767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37" name="Text 29"/>
          <p:cNvSpPr/>
          <p:nvPr/>
        </p:nvSpPr>
        <p:spPr>
          <a:xfrm>
            <a:off x="3767328" y="37673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서버 시작 + Smoke Test</a:t>
            </a:r>
            <a:endParaRPr lang="en-US" sz="800" dirty="0"/>
          </a:p>
        </p:txBody>
      </p:sp>
      <p:sp>
        <p:nvSpPr>
          <p:cNvPr id="38" name="Shape 30"/>
          <p:cNvSpPr/>
          <p:nvPr/>
        </p:nvSpPr>
        <p:spPr>
          <a:xfrm>
            <a:off x="3493008" y="4078224"/>
            <a:ext cx="201168" cy="201168"/>
          </a:xfrm>
          <a:prstGeom prst="ellipse">
            <a:avLst/>
          </a:prstGeom>
          <a:solidFill>
            <a:srgbClr val="4A9FE5"/>
          </a:solidFill>
          <a:ln/>
        </p:spPr>
      </p:sp>
      <p:sp>
        <p:nvSpPr>
          <p:cNvPr id="39" name="Text 31"/>
          <p:cNvSpPr/>
          <p:nvPr/>
        </p:nvSpPr>
        <p:spPr>
          <a:xfrm>
            <a:off x="3493008" y="4078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40" name="Text 32"/>
          <p:cNvSpPr/>
          <p:nvPr/>
        </p:nvSpPr>
        <p:spPr>
          <a:xfrm>
            <a:off x="3767328" y="40782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기능 작업 착수</a:t>
            </a:r>
            <a:endParaRPr lang="en-US" sz="8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868680"/>
            <a:ext cx="201168" cy="20116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693408" y="868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6446520" y="1170432"/>
            <a:ext cx="2286000" cy="457200"/>
          </a:xfrm>
          <a:prstGeom prst="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44" name="Shape 35"/>
          <p:cNvSpPr/>
          <p:nvPr/>
        </p:nvSpPr>
        <p:spPr>
          <a:xfrm>
            <a:off x="6446520" y="1170432"/>
            <a:ext cx="45720" cy="45720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45" name="Text 36"/>
          <p:cNvSpPr/>
          <p:nvPr/>
        </p:nvSpPr>
        <p:spPr>
          <a:xfrm>
            <a:off x="6583680" y="12070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0F4F8"/>
                </a:solidFill>
              </a:rPr>
              <a:t>Feature List는 JSON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7A8BA0"/>
                </a:solidFill>
              </a:rPr>
              <a:t>Markdown보다 임의 수정에 강함</a:t>
            </a:r>
            <a:endParaRPr lang="en-US" sz="800" dirty="0"/>
          </a:p>
        </p:txBody>
      </p:sp>
      <p:sp>
        <p:nvSpPr>
          <p:cNvPr id="46" name="Shape 37"/>
          <p:cNvSpPr/>
          <p:nvPr/>
        </p:nvSpPr>
        <p:spPr>
          <a:xfrm>
            <a:off x="6446520" y="1700784"/>
            <a:ext cx="2286000" cy="457200"/>
          </a:xfrm>
          <a:prstGeom prst="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47" name="Shape 38"/>
          <p:cNvSpPr/>
          <p:nvPr/>
        </p:nvSpPr>
        <p:spPr>
          <a:xfrm>
            <a:off x="6446520" y="1700784"/>
            <a:ext cx="45720" cy="45720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48" name="Text 39"/>
          <p:cNvSpPr/>
          <p:nvPr/>
        </p:nvSpPr>
        <p:spPr>
          <a:xfrm>
            <a:off x="6583680" y="173736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0F4F8"/>
                </a:solidFill>
              </a:rPr>
              <a:t>세션당 1기능 구현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7A8BA0"/>
                </a:solidFill>
              </a:rPr>
              <a:t>컨텍스트 소진 예방</a:t>
            </a:r>
            <a:endParaRPr lang="en-US" sz="800" dirty="0"/>
          </a:p>
        </p:txBody>
      </p:sp>
      <p:sp>
        <p:nvSpPr>
          <p:cNvPr id="49" name="Shape 40"/>
          <p:cNvSpPr/>
          <p:nvPr/>
        </p:nvSpPr>
        <p:spPr>
          <a:xfrm>
            <a:off x="6446520" y="2231136"/>
            <a:ext cx="2286000" cy="457200"/>
          </a:xfrm>
          <a:prstGeom prst="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50" name="Shape 41"/>
          <p:cNvSpPr/>
          <p:nvPr/>
        </p:nvSpPr>
        <p:spPr>
          <a:xfrm>
            <a:off x="6446520" y="2231136"/>
            <a:ext cx="45720" cy="45720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51" name="Text 42"/>
          <p:cNvSpPr/>
          <p:nvPr/>
        </p:nvSpPr>
        <p:spPr>
          <a:xfrm>
            <a:off x="6583680" y="226771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0F4F8"/>
                </a:solidFill>
              </a:rPr>
              <a:t>브라우저 자동화 테스트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7A8BA0"/>
                </a:solidFill>
              </a:rPr>
              <a:t>Puppeteer MCP 활용</a:t>
            </a:r>
            <a:endParaRPr lang="en-US" sz="800" dirty="0"/>
          </a:p>
        </p:txBody>
      </p:sp>
      <p:sp>
        <p:nvSpPr>
          <p:cNvPr id="52" name="Shape 43"/>
          <p:cNvSpPr/>
          <p:nvPr/>
        </p:nvSpPr>
        <p:spPr>
          <a:xfrm>
            <a:off x="6446520" y="2761488"/>
            <a:ext cx="2286000" cy="457200"/>
          </a:xfrm>
          <a:prstGeom prst="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53" name="Shape 44"/>
          <p:cNvSpPr/>
          <p:nvPr/>
        </p:nvSpPr>
        <p:spPr>
          <a:xfrm>
            <a:off x="6446520" y="2761488"/>
            <a:ext cx="45720" cy="45720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54" name="Text 45"/>
          <p:cNvSpPr/>
          <p:nvPr/>
        </p:nvSpPr>
        <p:spPr>
          <a:xfrm>
            <a:off x="6583680" y="27980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0F4F8"/>
                </a:solidFill>
              </a:rPr>
              <a:t>강한 어조의 프롬프트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7A8BA0"/>
                </a:solidFill>
              </a:rPr>
              <a:t>Feature List 삭제/수정 방지</a:t>
            </a:r>
            <a:endParaRPr lang="en-US" sz="800" dirty="0"/>
          </a:p>
        </p:txBody>
      </p:sp>
      <p:sp>
        <p:nvSpPr>
          <p:cNvPr id="55" name="Shape 46"/>
          <p:cNvSpPr/>
          <p:nvPr/>
        </p:nvSpPr>
        <p:spPr>
          <a:xfrm>
            <a:off x="6446520" y="3383280"/>
            <a:ext cx="2286000" cy="1097280"/>
          </a:xfrm>
          <a:prstGeom prst="rect">
            <a:avLst>
              <a:gd name="adj" fmla="val 4167"/>
            </a:avLst>
          </a:prstGeom>
          <a:solidFill>
            <a:srgbClr val="0D213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6583680" y="3456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57" name="Text 48"/>
          <p:cNvSpPr/>
          <p:nvPr/>
        </p:nvSpPr>
        <p:spPr>
          <a:xfrm>
            <a:off x="6583680" y="3703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▸"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기억은 코드에 남겨라</a:t>
            </a:r>
            <a:endParaRPr lang="en-US" sz="750" dirty="0"/>
          </a:p>
        </p:txBody>
      </p:sp>
      <p:sp>
        <p:nvSpPr>
          <p:cNvPr id="58" name="Text 49"/>
          <p:cNvSpPr/>
          <p:nvPr/>
        </p:nvSpPr>
        <p:spPr>
          <a:xfrm>
            <a:off x="6583680" y="38862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▸"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작게 나눠서 진행하라</a:t>
            </a:r>
            <a:endParaRPr lang="en-US" sz="750" dirty="0"/>
          </a:p>
        </p:txBody>
      </p:sp>
      <p:sp>
        <p:nvSpPr>
          <p:cNvPr id="59" name="Text 50"/>
          <p:cNvSpPr/>
          <p:nvPr/>
        </p:nvSpPr>
        <p:spPr>
          <a:xfrm>
            <a:off x="6583680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▸"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구조로 통제하라</a:t>
            </a:r>
            <a:endParaRPr lang="en-US" sz="750" dirty="0"/>
          </a:p>
        </p:txBody>
      </p:sp>
      <p:sp>
        <p:nvSpPr>
          <p:cNvPr id="60" name="Text 51"/>
          <p:cNvSpPr/>
          <p:nvPr/>
        </p:nvSpPr>
        <p:spPr>
          <a:xfrm>
            <a:off x="6583680" y="42519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▸"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테스트가 진실의 원천</a:t>
            </a:r>
            <a:endParaRPr lang="en-US" sz="750" dirty="0"/>
          </a:p>
        </p:txBody>
      </p:sp>
      <p:sp>
        <p:nvSpPr>
          <p:cNvPr id="61" name="Shape 5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0E14"/>
          </a:solidFill>
          <a:ln/>
        </p:spPr>
      </p:sp>
      <p:sp>
        <p:nvSpPr>
          <p:cNvPr id="62" name="Text 53"/>
          <p:cNvSpPr/>
          <p:nvPr/>
        </p:nvSpPr>
        <p:spPr>
          <a:xfrm>
            <a:off x="41148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anthropic.com/engineering/effective-harnesses-for-long-running-agents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Effective Harnesses for Long-Running Agents</dc:title>
  <dc:subject>PptxGenJS Presentation</dc:subject>
  <dc:creator>PATH</dc:creator>
  <cp:lastModifiedBy>PATH</cp:lastModifiedBy>
  <cp:revision>1</cp:revision>
  <dcterms:created xsi:type="dcterms:W3CDTF">2026-04-08T10:20:09Z</dcterms:created>
  <dcterms:modified xsi:type="dcterms:W3CDTF">2026-04-08T10:20:09Z</dcterms:modified>
</cp:coreProperties>
</file>